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Análise Completa de Viés</a:t>
            </a:r>
            <a:br/>
            <a:r>
              <a:t>em Avaliações de RH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EB3B"/>
                </a:solidFill>
              </a:defRPr>
            </a:pPr>
            <a:r>
              <a:t>7 Cenários Completos | 56 Gráficos | Análises Detalhadas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 de Cenários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1800"/>
            </a:pPr>
            <a:r>
              <a:t>Cenário 1: Cenário 1 - Sem Viés (Dados Limpos)</a:t>
            </a:r>
          </a:p>
          <a:p>
            <a:pPr lvl="1">
              <a:defRPr sz="1400"/>
            </a:pPr>
            <a:r>
              <a:t>✅ SEM VIÉS | Diferença: 0.000</a:t>
            </a:r>
          </a:p>
          <a:p>
            <a:pPr>
              <a:spcBef>
                <a:spcPts val="1000"/>
              </a:spcBef>
              <a:defRPr sz="1800"/>
            </a:pPr>
            <a:r>
              <a:t>Cenário 2: Cenário 2 - Viés Leve (17%)</a:t>
            </a:r>
          </a:p>
          <a:p>
            <a:pPr lvl="1">
              <a:defRPr sz="1400"/>
            </a:pPr>
            <a:r>
              <a:t>✅ SEM VIÉS | Diferença: 0.094</a:t>
            </a:r>
          </a:p>
          <a:p>
            <a:pPr>
              <a:spcBef>
                <a:spcPts val="1000"/>
              </a:spcBef>
              <a:defRPr sz="1800"/>
            </a:pPr>
            <a:r>
              <a:t>Cenário 3: Cenário 3 - Viés Leve (33%)</a:t>
            </a:r>
          </a:p>
          <a:p>
            <a:pPr lvl="1">
              <a:defRPr sz="1400"/>
            </a:pPr>
            <a:r>
              <a:t>✅ SEM VIÉS | Diferença: 0.187</a:t>
            </a:r>
          </a:p>
          <a:p>
            <a:pPr>
              <a:spcBef>
                <a:spcPts val="1000"/>
              </a:spcBef>
              <a:defRPr sz="1800"/>
            </a:pPr>
            <a:r>
              <a:t>Cenário 4: Cenário 4 - Viés Moderado (50%)</a:t>
            </a:r>
          </a:p>
          <a:p>
            <a:pPr lvl="1">
              <a:defRPr sz="1400"/>
            </a:pPr>
            <a:r>
              <a:t>✅ SEM VIÉS | Diferença: 0.280</a:t>
            </a:r>
          </a:p>
          <a:p>
            <a:pPr>
              <a:spcBef>
                <a:spcPts val="1000"/>
              </a:spcBef>
              <a:defRPr sz="1800"/>
            </a:pPr>
            <a:r>
              <a:t>Cenário 5: Cenário 5 - Viés Severo (67%)</a:t>
            </a:r>
          </a:p>
          <a:p>
            <a:pPr lvl="1">
              <a:defRPr sz="1400"/>
            </a:pPr>
            <a:r>
              <a:t>⚠️ VIÉS DETECTADO | Diferença: 0.373</a:t>
            </a:r>
          </a:p>
          <a:p>
            <a:pPr>
              <a:spcBef>
                <a:spcPts val="1000"/>
              </a:spcBef>
              <a:defRPr sz="1800"/>
            </a:pPr>
            <a:r>
              <a:t>Cenário 6: Cenário 6 - Viés Severo (83%)</a:t>
            </a:r>
          </a:p>
          <a:p>
            <a:pPr lvl="1">
              <a:defRPr sz="1400"/>
            </a:pPr>
            <a:r>
              <a:t>⚠️ VIÉS DETECTADO | Diferença: 0.467</a:t>
            </a:r>
          </a:p>
          <a:p>
            <a:pPr>
              <a:spcBef>
                <a:spcPts val="1000"/>
              </a:spcBef>
              <a:defRPr sz="1800"/>
            </a:pPr>
            <a:r>
              <a:t>Cenário 7: Cenário 7 - Viés Máximo (100%)</a:t>
            </a:r>
          </a:p>
          <a:p>
            <a:pPr lvl="1">
              <a:defRPr sz="1400"/>
            </a:pPr>
            <a:r>
              <a:t>⚠️ VIÉS DETECTADO | Diferença: 0.560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CENÁRIO 1</a:t>
            </a:r>
            <a:br/>
            <a:r>
              <a:t>Cenário 1 - Sem Viés (Dados Limpos)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Dados equitativos sem viés de gênero - estado ideal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Média Feminino</a:t>
            </a:r>
          </a:p>
          <a:p>
            <a:pPr algn="ctr">
              <a:defRPr sz="3200" b="1">
                <a:solidFill>
                  <a:srgbClr val="4CAF50"/>
                </a:solidFill>
              </a:defRPr>
            </a:pPr>
            <a:r>
              <a:t>7.70</a:t>
            </a:r>
          </a:p>
          <a:p>
            <a:pPr algn="ctr">
              <a:defRPr sz="1200"/>
            </a:pPr>
            <a:r>
              <a:t>Avaliação média mulheres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Média Masculino</a:t>
            </a:r>
          </a:p>
          <a:p>
            <a:pPr algn="ctr">
              <a:defRPr sz="3200" b="1">
                <a:solidFill>
                  <a:srgbClr val="4CAF50"/>
                </a:solidFill>
              </a:defRPr>
            </a:pPr>
            <a:r>
              <a:t>7.70</a:t>
            </a:r>
          </a:p>
          <a:p>
            <a:pPr algn="ctr">
              <a:defRPr sz="1200"/>
            </a:pPr>
            <a:r>
              <a:t>Avaliação média homens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Diferença</a:t>
            </a:r>
          </a:p>
          <a:p>
            <a:pPr algn="ctr">
              <a:defRPr sz="3200" b="1">
                <a:solidFill>
                  <a:srgbClr val="4CAF50"/>
                </a:solidFill>
              </a:defRPr>
            </a:pPr>
            <a:r>
              <a:t>0.000</a:t>
            </a:r>
          </a:p>
          <a:p>
            <a:pPr algn="ctr">
              <a:defRPr sz="1200"/>
            </a:pPr>
            <a:r>
              <a:t>Gap entre gêneros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389120"/>
            <a:ext cx="2743200" cy="13716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/>
            </a:pPr>
            <a:r>
              <a:t>P-value</a:t>
            </a:r>
          </a:p>
          <a:p>
            <a:pPr algn="ctr">
              <a:defRPr sz="2400" b="1"/>
            </a:pPr>
            <a:r>
              <a:t>0.9970</a:t>
            </a:r>
          </a:p>
          <a:p>
            <a:pPr algn="ctr">
              <a:defRPr sz="1100"/>
            </a:pPr>
            <a:r>
              <a:t>Significância estatística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389120"/>
            <a:ext cx="2743200" cy="1371600"/>
          </a:xfrm>
          <a:prstGeom prst="roundRect">
            <a:avLst/>
          </a:prstGeom>
          <a:solidFill>
            <a:srgbClr val="E8F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/>
            </a:pPr>
            <a:r>
              <a:t>Status</a:t>
            </a:r>
          </a:p>
          <a:p>
            <a:pPr algn="ctr">
              <a:defRPr sz="2400" b="1"/>
            </a:pPr>
            <a:r>
              <a:t>✅ SEM VIÉS</a:t>
            </a:r>
          </a:p>
          <a:p>
            <a:pPr algn="ctr">
              <a:defRPr sz="1100"/>
            </a:pPr>
            <a:r>
              <a:t>Resultado da análise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💡 Próximos slides: 8 gráficos detalhados deste cenário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1 | Distribuição de Scores (Antes)</a:t>
            </a:r>
          </a:p>
        </p:txBody>
      </p:sp>
      <p:pic>
        <p:nvPicPr>
          <p:cNvPr id="3" name="Picture 2" descr="03_comparacao_medias_20251106_143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3889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Mostra a distribuição antes de qualquer ajuste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1 | Distribuição de Scores (Depois)</a:t>
            </a:r>
          </a:p>
        </p:txBody>
      </p:sp>
      <p:pic>
        <p:nvPicPr>
          <p:cNvPr id="3" name="Picture 2" descr="04_boxplot_avaliacoes_20251106_143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0757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após aplicação do nível de viés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1 | Comparação de Médias</a:t>
            </a:r>
          </a:p>
        </p:txBody>
      </p:sp>
      <p:pic>
        <p:nvPicPr>
          <p:cNvPr id="3" name="Picture 2" descr="05_eficacia_correcao_20251106_143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6521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Comparação direta entre médias de homens e mulheres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1 | Boxplot por Tipo de Avaliação</a:t>
            </a:r>
          </a:p>
        </p:txBody>
      </p:sp>
      <p:pic>
        <p:nvPicPr>
          <p:cNvPr id="3" name="Picture 2" descr="06_histograma_distribuicao_20251106_143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3824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de scores por diferentes tipos de avaliação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1 | Eficácia da Correção</a:t>
            </a:r>
          </a:p>
        </p:txBody>
      </p:sp>
      <p:pic>
        <p:nvPicPr>
          <p:cNvPr id="3" name="Picture 2" descr="07_scatter_desempenho_potencial_20251106_143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71844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Análise da diferença de médias e significância estatística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1 | Histograma de Distribuição</a:t>
            </a:r>
          </a:p>
        </p:txBody>
      </p:sp>
      <p:pic>
        <p:nvPicPr>
          <p:cNvPr id="3" name="Picture 2" descr="08_comparativo_cenarios_20251106_143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6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geral com curva normal e percentis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CENÁRIO 2</a:t>
            </a:r>
            <a:br/>
            <a:r>
              <a:t>Cenário 2 - Viés Leve (17%)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Viés leve aplicado (17%) para teste do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Média Feminino</a:t>
            </a:r>
          </a:p>
          <a:p>
            <a:pPr algn="ctr">
              <a:defRPr sz="3200" b="1">
                <a:solidFill>
                  <a:srgbClr val="FFC107"/>
                </a:solidFill>
              </a:defRPr>
            </a:pPr>
            <a:r>
              <a:t>7.60</a:t>
            </a:r>
          </a:p>
          <a:p>
            <a:pPr algn="ctr">
              <a:defRPr sz="1200"/>
            </a:pPr>
            <a:r>
              <a:t>Avaliação média mulheres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Média Masculino</a:t>
            </a:r>
          </a:p>
          <a:p>
            <a:pPr algn="ctr">
              <a:defRPr sz="3200" b="1">
                <a:solidFill>
                  <a:srgbClr val="FFC107"/>
                </a:solidFill>
              </a:defRPr>
            </a:pPr>
            <a:r>
              <a:t>7.70</a:t>
            </a:r>
          </a:p>
          <a:p>
            <a:pPr algn="ctr">
              <a:defRPr sz="1200"/>
            </a:pPr>
            <a:r>
              <a:t>Avaliação média homens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Diferença</a:t>
            </a:r>
          </a:p>
          <a:p>
            <a:pPr algn="ctr">
              <a:defRPr sz="3200" b="1">
                <a:solidFill>
                  <a:srgbClr val="FFC107"/>
                </a:solidFill>
              </a:defRPr>
            </a:pPr>
            <a:r>
              <a:t>0.094</a:t>
            </a:r>
          </a:p>
          <a:p>
            <a:pPr algn="ctr">
              <a:defRPr sz="1200"/>
            </a:pPr>
            <a:r>
              <a:t>Gap entre gêneros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389120"/>
            <a:ext cx="2743200" cy="13716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/>
            </a:pPr>
            <a:r>
              <a:t>P-value</a:t>
            </a:r>
          </a:p>
          <a:p>
            <a:pPr algn="ctr">
              <a:defRPr sz="2400" b="1"/>
            </a:pPr>
            <a:r>
              <a:t>0.1921</a:t>
            </a:r>
          </a:p>
          <a:p>
            <a:pPr algn="ctr">
              <a:defRPr sz="1100"/>
            </a:pPr>
            <a:r>
              <a:t>Significância estatística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389120"/>
            <a:ext cx="2743200" cy="1371600"/>
          </a:xfrm>
          <a:prstGeom prst="roundRect">
            <a:avLst/>
          </a:prstGeom>
          <a:solidFill>
            <a:srgbClr val="E8F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/>
            </a:pPr>
            <a:r>
              <a:t>Status</a:t>
            </a:r>
          </a:p>
          <a:p>
            <a:pPr algn="ctr">
              <a:defRPr sz="2400" b="1"/>
            </a:pPr>
            <a:r>
              <a:t>✅ SEM VIÉS</a:t>
            </a:r>
          </a:p>
          <a:p>
            <a:pPr algn="ctr">
              <a:defRPr sz="1100"/>
            </a:pPr>
            <a:r>
              <a:t>Resultado da análise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💡 Próximos slides: 8 gráficos detalhados deste cenário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2 | Distribuição de Scores (Antes)</a:t>
            </a:r>
          </a:p>
        </p:txBody>
      </p:sp>
      <p:pic>
        <p:nvPicPr>
          <p:cNvPr id="3" name="Picture 2" descr="03_comparacao_medias_20251106_1436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3889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Mostra a distribuição antes de qualquer ajuste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2 | Distribuição de Scores (Depois)</a:t>
            </a:r>
          </a:p>
        </p:txBody>
      </p:sp>
      <p:pic>
        <p:nvPicPr>
          <p:cNvPr id="3" name="Picture 2" descr="04_boxplot_avaliacoes_20251106_1436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0757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após aplicação do nível de viés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2 | Comparação de Médias</a:t>
            </a:r>
          </a:p>
        </p:txBody>
      </p:sp>
      <p:pic>
        <p:nvPicPr>
          <p:cNvPr id="3" name="Picture 2" descr="05_eficacia_correcao_20251106_1436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6529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Comparação direta entre médias de homens e mulheres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2 | Boxplot por Tipo de Avaliação</a:t>
            </a:r>
          </a:p>
        </p:txBody>
      </p:sp>
      <p:pic>
        <p:nvPicPr>
          <p:cNvPr id="3" name="Picture 2" descr="06_histograma_distribuicao_20251106_1436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3824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de scores por diferentes tipos de avaliação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2 | Eficácia da Correção</a:t>
            </a:r>
          </a:p>
        </p:txBody>
      </p:sp>
      <p:pic>
        <p:nvPicPr>
          <p:cNvPr id="3" name="Picture 2" descr="07_scatter_desempenho_potencial_20251106_1436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71844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Análise da diferença de médias e significância estatística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2 | Histograma de Distribuição</a:t>
            </a:r>
          </a:p>
        </p:txBody>
      </p:sp>
      <p:pic>
        <p:nvPicPr>
          <p:cNvPr id="3" name="Picture 2" descr="08_comparativo_cenarios_20251106_1436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6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geral com curva normal e percentis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CENÁRIO 3</a:t>
            </a:r>
            <a:br/>
            <a:r>
              <a:t>Cenário 3 - Viés Leve (33%)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Viés leve aplicado (33%) para teste do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Média Feminino</a:t>
            </a:r>
          </a:p>
          <a:p>
            <a:pPr algn="ctr">
              <a:defRPr sz="3200" b="1">
                <a:solidFill>
                  <a:srgbClr val="FFC107"/>
                </a:solidFill>
              </a:defRPr>
            </a:pPr>
            <a:r>
              <a:t>7.51</a:t>
            </a:r>
          </a:p>
          <a:p>
            <a:pPr algn="ctr">
              <a:defRPr sz="1200"/>
            </a:pPr>
            <a:r>
              <a:t>Avaliação média mulheres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Média Masculino</a:t>
            </a:r>
          </a:p>
          <a:p>
            <a:pPr algn="ctr">
              <a:defRPr sz="3200" b="1">
                <a:solidFill>
                  <a:srgbClr val="FFC107"/>
                </a:solidFill>
              </a:defRPr>
            </a:pPr>
            <a:r>
              <a:t>7.70</a:t>
            </a:r>
          </a:p>
          <a:p>
            <a:pPr algn="ctr">
              <a:defRPr sz="1200"/>
            </a:pPr>
            <a:r>
              <a:t>Avaliação média homens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Diferença</a:t>
            </a:r>
          </a:p>
          <a:p>
            <a:pPr algn="ctr">
              <a:defRPr sz="3200" b="1">
                <a:solidFill>
                  <a:srgbClr val="FFC107"/>
                </a:solidFill>
              </a:defRPr>
            </a:pPr>
            <a:r>
              <a:t>0.187</a:t>
            </a:r>
          </a:p>
          <a:p>
            <a:pPr algn="ctr">
              <a:defRPr sz="1200"/>
            </a:pPr>
            <a:r>
              <a:t>Gap entre gêneros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389120"/>
            <a:ext cx="2743200" cy="13716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/>
            </a:pPr>
            <a:r>
              <a:t>P-value</a:t>
            </a:r>
          </a:p>
          <a:p>
            <a:pPr algn="ctr">
              <a:defRPr sz="2400" b="1"/>
            </a:pPr>
            <a:r>
              <a:t>0.0108</a:t>
            </a:r>
          </a:p>
          <a:p>
            <a:pPr algn="ctr">
              <a:defRPr sz="1100"/>
            </a:pPr>
            <a:r>
              <a:t>Significância estatística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389120"/>
            <a:ext cx="2743200" cy="1371600"/>
          </a:xfrm>
          <a:prstGeom prst="roundRect">
            <a:avLst/>
          </a:prstGeom>
          <a:solidFill>
            <a:srgbClr val="E8F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/>
            </a:pPr>
            <a:r>
              <a:t>Status</a:t>
            </a:r>
          </a:p>
          <a:p>
            <a:pPr algn="ctr">
              <a:defRPr sz="2400" b="1"/>
            </a:pPr>
            <a:r>
              <a:t>✅ SEM VIÉS</a:t>
            </a:r>
          </a:p>
          <a:p>
            <a:pPr algn="ctr">
              <a:defRPr sz="1100"/>
            </a:pPr>
            <a:r>
              <a:t>Resultado da análise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💡 Próximos slides: 8 gráficos detalhados deste cenário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3 | Distribuição de Scores (Antes)</a:t>
            </a:r>
          </a:p>
        </p:txBody>
      </p:sp>
      <p:pic>
        <p:nvPicPr>
          <p:cNvPr id="3" name="Picture 2" descr="03_comparacao_medias_20251106_1436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3889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Mostra a distribuição antes de qualquer ajuste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3 | Distribuição de Scores (Depois)</a:t>
            </a:r>
          </a:p>
        </p:txBody>
      </p:sp>
      <p:pic>
        <p:nvPicPr>
          <p:cNvPr id="3" name="Picture 2" descr="04_boxplot_avaliacoes_20251106_1436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0757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após aplicação do nível de viés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3 | Comparação de Médias</a:t>
            </a:r>
          </a:p>
        </p:txBody>
      </p:sp>
      <p:pic>
        <p:nvPicPr>
          <p:cNvPr id="3" name="Picture 2" descr="05_eficacia_correcao_20251106_1436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6529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Comparação direta entre médias de homens e mulheres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3 | Boxplot por Tipo de Avaliação</a:t>
            </a:r>
          </a:p>
        </p:txBody>
      </p:sp>
      <p:pic>
        <p:nvPicPr>
          <p:cNvPr id="3" name="Picture 2" descr="06_histograma_distribuicao_20251106_1436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3106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de scores por diferentes tipos de avaliação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3 | Eficácia da Correção</a:t>
            </a:r>
          </a:p>
        </p:txBody>
      </p:sp>
      <p:pic>
        <p:nvPicPr>
          <p:cNvPr id="3" name="Picture 2" descr="07_scatter_desempenho_potencial_20251106_1436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71844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Análise da diferença de médias e significância estatística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3 | Histograma de Distribuição</a:t>
            </a:r>
          </a:p>
        </p:txBody>
      </p:sp>
      <p:pic>
        <p:nvPicPr>
          <p:cNvPr id="3" name="Picture 2" descr="08_comparativo_cenarios_20251106_1436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6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geral com curva normal e percentis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CENÁRIO 4</a:t>
            </a:r>
            <a:br/>
            <a:r>
              <a:t>Cenário 4 - Viés Moderado (50%)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Viés moderado típico de cenários reais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Média Feminino</a:t>
            </a:r>
          </a:p>
          <a:p>
            <a:pPr algn="ctr">
              <a:defRPr sz="3200" b="1">
                <a:solidFill>
                  <a:srgbClr val="FF9800"/>
                </a:solidFill>
              </a:defRPr>
            </a:pPr>
            <a:r>
              <a:t>7.42</a:t>
            </a:r>
          </a:p>
          <a:p>
            <a:pPr algn="ctr">
              <a:defRPr sz="1200"/>
            </a:pPr>
            <a:r>
              <a:t>Avaliação média mulheres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Média Masculino</a:t>
            </a:r>
          </a:p>
          <a:p>
            <a:pPr algn="ctr">
              <a:defRPr sz="3200" b="1">
                <a:solidFill>
                  <a:srgbClr val="FF9800"/>
                </a:solidFill>
              </a:defRPr>
            </a:pPr>
            <a:r>
              <a:t>7.70</a:t>
            </a:r>
          </a:p>
          <a:p>
            <a:pPr algn="ctr">
              <a:defRPr sz="1200"/>
            </a:pPr>
            <a:r>
              <a:t>Avaliação média homens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Diferença</a:t>
            </a:r>
          </a:p>
          <a:p>
            <a:pPr algn="ctr">
              <a:defRPr sz="3200" b="1">
                <a:solidFill>
                  <a:srgbClr val="FF9800"/>
                </a:solidFill>
              </a:defRPr>
            </a:pPr>
            <a:r>
              <a:t>0.280</a:t>
            </a:r>
          </a:p>
          <a:p>
            <a:pPr algn="ctr">
              <a:defRPr sz="1200"/>
            </a:pPr>
            <a:r>
              <a:t>Gap entre gêneros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389120"/>
            <a:ext cx="2743200" cy="13716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/>
            </a:pPr>
            <a:r>
              <a:t>P-value</a:t>
            </a:r>
          </a:p>
          <a:p>
            <a:pPr algn="ctr">
              <a:defRPr sz="2400" b="1"/>
            </a:pPr>
            <a:r>
              <a:t>0.0002</a:t>
            </a:r>
          </a:p>
          <a:p>
            <a:pPr algn="ctr">
              <a:defRPr sz="1100"/>
            </a:pPr>
            <a:r>
              <a:t>Significância estatística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389120"/>
            <a:ext cx="2743200" cy="1371600"/>
          </a:xfrm>
          <a:prstGeom prst="roundRect">
            <a:avLst/>
          </a:prstGeom>
          <a:solidFill>
            <a:srgbClr val="E8F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/>
            </a:pPr>
            <a:r>
              <a:t>Status</a:t>
            </a:r>
          </a:p>
          <a:p>
            <a:pPr algn="ctr">
              <a:defRPr sz="2400" b="1"/>
            </a:pPr>
            <a:r>
              <a:t>✅ SEM VIÉS</a:t>
            </a:r>
          </a:p>
          <a:p>
            <a:pPr algn="ctr">
              <a:defRPr sz="1100"/>
            </a:pPr>
            <a:r>
              <a:t>Resultado da análise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💡 Próximos slides: 8 gráficos detalhados deste cenário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4 | Distribuição de Scores (Antes)</a:t>
            </a:r>
          </a:p>
        </p:txBody>
      </p:sp>
      <p:pic>
        <p:nvPicPr>
          <p:cNvPr id="3" name="Picture 2" descr="03_comparacao_medias_20251106_1436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3889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Mostra a distribuição antes de qualquer ajuste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4 | Distribuição de Scores (Depois)</a:t>
            </a:r>
          </a:p>
        </p:txBody>
      </p:sp>
      <p:pic>
        <p:nvPicPr>
          <p:cNvPr id="3" name="Picture 2" descr="04_boxplot_avaliacoes_20251106_1436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0757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após aplicação do nível de viés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4 | Comparação de Médias</a:t>
            </a:r>
          </a:p>
        </p:txBody>
      </p:sp>
      <p:pic>
        <p:nvPicPr>
          <p:cNvPr id="3" name="Picture 2" descr="05_eficacia_correcao_20251106_1436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6529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Comparação direta entre médias de homens e mulheres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4 | Boxplot por Tipo de Avaliação</a:t>
            </a:r>
          </a:p>
        </p:txBody>
      </p:sp>
      <p:pic>
        <p:nvPicPr>
          <p:cNvPr id="3" name="Picture 2" descr="06_histograma_distribuicao_20251106_1436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3824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de scores por diferentes tipos de avaliação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4 | Eficácia da Correção</a:t>
            </a:r>
          </a:p>
        </p:txBody>
      </p:sp>
      <p:pic>
        <p:nvPicPr>
          <p:cNvPr id="3" name="Picture 2" descr="07_scatter_desempenho_potencial_20251106_1436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71844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Análise da diferença de médias e significância estatística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4 | Histograma de Distribuição</a:t>
            </a:r>
          </a:p>
        </p:txBody>
      </p:sp>
      <p:pic>
        <p:nvPicPr>
          <p:cNvPr id="3" name="Picture 2" descr="08_comparativo_cenarios_20251106_1436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6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geral com curva normal e percentis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CENÁRIO 5</a:t>
            </a:r>
            <a:br/>
            <a:r>
              <a:t>Cenário 5 - Viés Severo (67%)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Viés severo (67%) para demonstração extrema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Média Feminino</a:t>
            </a:r>
          </a:p>
          <a:p>
            <a:pPr algn="ctr">
              <a:defRPr sz="3200" b="1">
                <a:solidFill>
                  <a:srgbClr val="FF9800"/>
                </a:solidFill>
              </a:defRPr>
            </a:pPr>
            <a:r>
              <a:t>7.32</a:t>
            </a:r>
          </a:p>
          <a:p>
            <a:pPr algn="ctr">
              <a:defRPr sz="1200"/>
            </a:pPr>
            <a:r>
              <a:t>Avaliação média mulheres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Média Masculino</a:t>
            </a:r>
          </a:p>
          <a:p>
            <a:pPr algn="ctr">
              <a:defRPr sz="3200" b="1">
                <a:solidFill>
                  <a:srgbClr val="FF9800"/>
                </a:solidFill>
              </a:defRPr>
            </a:pPr>
            <a:r>
              <a:t>7.70</a:t>
            </a:r>
          </a:p>
          <a:p>
            <a:pPr algn="ctr">
              <a:defRPr sz="1200"/>
            </a:pPr>
            <a:r>
              <a:t>Avaliação média homens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Diferença</a:t>
            </a:r>
          </a:p>
          <a:p>
            <a:pPr algn="ctr">
              <a:defRPr sz="3200" b="1">
                <a:solidFill>
                  <a:srgbClr val="FF9800"/>
                </a:solidFill>
              </a:defRPr>
            </a:pPr>
            <a:r>
              <a:t>0.373</a:t>
            </a:r>
          </a:p>
          <a:p>
            <a:pPr algn="ctr">
              <a:defRPr sz="1200"/>
            </a:pPr>
            <a:r>
              <a:t>Gap entre gêneros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389120"/>
            <a:ext cx="2743200" cy="13716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/>
            </a:pPr>
            <a:r>
              <a:t>P-value</a:t>
            </a:r>
          </a:p>
          <a:p>
            <a:pPr algn="ctr">
              <a:defRPr sz="2400" b="1"/>
            </a:pPr>
            <a:r>
              <a:t>0.0000</a:t>
            </a:r>
          </a:p>
          <a:p>
            <a:pPr algn="ctr">
              <a:defRPr sz="1100"/>
            </a:pPr>
            <a:r>
              <a:t>Significância estatística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389120"/>
            <a:ext cx="2743200" cy="1371600"/>
          </a:xfrm>
          <a:prstGeom prst="roundRect">
            <a:avLst/>
          </a:prstGeom>
          <a:solidFill>
            <a:srgbClr val="FFEB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/>
            </a:pPr>
            <a:r>
              <a:t>Status</a:t>
            </a:r>
          </a:p>
          <a:p>
            <a:pPr algn="ctr">
              <a:defRPr sz="2400" b="1"/>
            </a:pPr>
            <a:r>
              <a:t>⚠️ VIÉS</a:t>
            </a:r>
          </a:p>
          <a:p>
            <a:pPr algn="ctr">
              <a:defRPr sz="1100"/>
            </a:pPr>
            <a:r>
              <a:t>Resultado da análise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💡 Próximos slides: 8 gráficos detalhados deste cenário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5 | Distribuição de Scores (Antes)</a:t>
            </a:r>
          </a:p>
        </p:txBody>
      </p:sp>
      <p:pic>
        <p:nvPicPr>
          <p:cNvPr id="3" name="Picture 2" descr="03_comparacao_medias_20251106_1436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3889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Mostra a distribuição antes de qualquer ajuste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5 | Distribuição de Scores (Depois)</a:t>
            </a:r>
          </a:p>
        </p:txBody>
      </p:sp>
      <p:pic>
        <p:nvPicPr>
          <p:cNvPr id="3" name="Picture 2" descr="04_boxplot_avaliacoes_20251106_1436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0757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após aplicação do nível de viés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5 | Comparação de Médias</a:t>
            </a:r>
          </a:p>
        </p:txBody>
      </p:sp>
      <p:pic>
        <p:nvPicPr>
          <p:cNvPr id="3" name="Picture 2" descr="05_eficacia_correcao_20251106_1436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6529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Comparação direta entre médias de homens e mulheres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5 | Boxplot por Tipo de Avaliação</a:t>
            </a:r>
          </a:p>
        </p:txBody>
      </p:sp>
      <p:pic>
        <p:nvPicPr>
          <p:cNvPr id="3" name="Picture 2" descr="06_histograma_distribuicao_20251106_1436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3824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de scores por diferentes tipos de avaliação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5 | Eficácia da Correção</a:t>
            </a:r>
          </a:p>
        </p:txBody>
      </p:sp>
      <p:pic>
        <p:nvPicPr>
          <p:cNvPr id="3" name="Picture 2" descr="07_scatter_desempenho_potencial_20251106_1436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71844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Análise da diferença de médias e significância estatística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5 | Histograma de Distribuição</a:t>
            </a:r>
          </a:p>
        </p:txBody>
      </p:sp>
      <p:pic>
        <p:nvPicPr>
          <p:cNvPr id="3" name="Picture 2" descr="08_comparativo_cenarios_20251106_1436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6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geral com curva normal e percentis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4433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CENÁRIO 6</a:t>
            </a:r>
            <a:br/>
            <a:r>
              <a:t>Cenário 6 - Viés Severo (83%)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Viés severo (83%) para demonstração extrema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Média Feminino</a:t>
            </a:r>
          </a:p>
          <a:p>
            <a:pPr algn="ctr">
              <a:defRPr sz="3200" b="1">
                <a:solidFill>
                  <a:srgbClr val="F44336"/>
                </a:solidFill>
              </a:defRPr>
            </a:pPr>
            <a:r>
              <a:t>7.23</a:t>
            </a:r>
          </a:p>
          <a:p>
            <a:pPr algn="ctr">
              <a:defRPr sz="1200"/>
            </a:pPr>
            <a:r>
              <a:t>Avaliação média mulheres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Média Masculino</a:t>
            </a:r>
          </a:p>
          <a:p>
            <a:pPr algn="ctr">
              <a:defRPr sz="3200" b="1">
                <a:solidFill>
                  <a:srgbClr val="F44336"/>
                </a:solidFill>
              </a:defRPr>
            </a:pPr>
            <a:r>
              <a:t>7.70</a:t>
            </a:r>
          </a:p>
          <a:p>
            <a:pPr algn="ctr">
              <a:defRPr sz="1200"/>
            </a:pPr>
            <a:r>
              <a:t>Avaliação média homens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Diferença</a:t>
            </a:r>
          </a:p>
          <a:p>
            <a:pPr algn="ctr">
              <a:defRPr sz="3200" b="1">
                <a:solidFill>
                  <a:srgbClr val="F44336"/>
                </a:solidFill>
              </a:defRPr>
            </a:pPr>
            <a:r>
              <a:t>0.467</a:t>
            </a:r>
          </a:p>
          <a:p>
            <a:pPr algn="ctr">
              <a:defRPr sz="1200"/>
            </a:pPr>
            <a:r>
              <a:t>Gap entre gêneros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389120"/>
            <a:ext cx="2743200" cy="13716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/>
            </a:pPr>
            <a:r>
              <a:t>P-value</a:t>
            </a:r>
          </a:p>
          <a:p>
            <a:pPr algn="ctr">
              <a:defRPr sz="2400" b="1"/>
            </a:pPr>
            <a:r>
              <a:t>0.0000</a:t>
            </a:r>
          </a:p>
          <a:p>
            <a:pPr algn="ctr">
              <a:defRPr sz="1100"/>
            </a:pPr>
            <a:r>
              <a:t>Significância estatística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389120"/>
            <a:ext cx="2743200" cy="1371600"/>
          </a:xfrm>
          <a:prstGeom prst="roundRect">
            <a:avLst/>
          </a:prstGeom>
          <a:solidFill>
            <a:srgbClr val="FFEB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/>
            </a:pPr>
            <a:r>
              <a:t>Status</a:t>
            </a:r>
          </a:p>
          <a:p>
            <a:pPr algn="ctr">
              <a:defRPr sz="2400" b="1"/>
            </a:pPr>
            <a:r>
              <a:t>⚠️ VIÉS</a:t>
            </a:r>
          </a:p>
          <a:p>
            <a:pPr algn="ctr">
              <a:defRPr sz="1100"/>
            </a:pPr>
            <a:r>
              <a:t>Resultado da análise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💡 Próximos slides: 8 gráficos detalhados deste cenário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6 | Distribuição de Scores (Antes)</a:t>
            </a:r>
          </a:p>
        </p:txBody>
      </p:sp>
      <p:pic>
        <p:nvPicPr>
          <p:cNvPr id="3" name="Picture 2" descr="03_comparacao_medias_20251106_1436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3889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Mostra a distribuição antes de qualquer ajuste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6 | Distribuição de Scores (Depois)</a:t>
            </a:r>
          </a:p>
        </p:txBody>
      </p:sp>
      <p:pic>
        <p:nvPicPr>
          <p:cNvPr id="3" name="Picture 2" descr="04_boxplot_avaliacoes_20251106_1436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0757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após aplicação do nível de viés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6 | Comparação de Médias</a:t>
            </a:r>
          </a:p>
        </p:txBody>
      </p:sp>
      <p:pic>
        <p:nvPicPr>
          <p:cNvPr id="3" name="Picture 2" descr="05_eficacia_correcao_20251106_1436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6529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Comparação direta entre médias de homens e mulheres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6 | Boxplot por Tipo de Avaliação</a:t>
            </a:r>
          </a:p>
        </p:txBody>
      </p:sp>
      <p:pic>
        <p:nvPicPr>
          <p:cNvPr id="3" name="Picture 2" descr="06_histograma_distribuicao_20251106_1436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3106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de scores por diferentes tipos de avaliação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6 | Eficácia da Correção</a:t>
            </a:r>
          </a:p>
        </p:txBody>
      </p:sp>
      <p:pic>
        <p:nvPicPr>
          <p:cNvPr id="3" name="Picture 2" descr="07_scatter_desempenho_potencial_20251106_1436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71844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Análise da diferença de médias e significância estatística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6 | Histograma de Distribuição</a:t>
            </a:r>
          </a:p>
        </p:txBody>
      </p:sp>
      <p:pic>
        <p:nvPicPr>
          <p:cNvPr id="3" name="Picture 2" descr="08_comparativo_cenarios_20251106_1436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6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geral com curva normal e percentis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4433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CENÁRIO 7</a:t>
            </a:r>
            <a:br/>
            <a:r>
              <a:t>Cenário 7 - Viés Máximo (100%)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Viés máximo - pior cenário possível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Média Feminino</a:t>
            </a:r>
          </a:p>
          <a:p>
            <a:pPr algn="ctr">
              <a:defRPr sz="3200" b="1">
                <a:solidFill>
                  <a:srgbClr val="F44336"/>
                </a:solidFill>
              </a:defRPr>
            </a:pPr>
            <a:r>
              <a:t>7.14</a:t>
            </a:r>
          </a:p>
          <a:p>
            <a:pPr algn="ctr">
              <a:defRPr sz="1200"/>
            </a:pPr>
            <a:r>
              <a:t>Avaliação média mulheres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Média Masculino</a:t>
            </a:r>
          </a:p>
          <a:p>
            <a:pPr algn="ctr">
              <a:defRPr sz="3200" b="1">
                <a:solidFill>
                  <a:srgbClr val="F44336"/>
                </a:solidFill>
              </a:defRPr>
            </a:pPr>
            <a:r>
              <a:t>7.70</a:t>
            </a:r>
          </a:p>
          <a:p>
            <a:pPr algn="ctr">
              <a:defRPr sz="1200"/>
            </a:pPr>
            <a:r>
              <a:t>Avaliação média homens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68880"/>
            <a:ext cx="2743200" cy="164592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/>
            </a:pPr>
            <a:r>
              <a:t>Diferença</a:t>
            </a:r>
          </a:p>
          <a:p>
            <a:pPr algn="ctr">
              <a:defRPr sz="3200" b="1">
                <a:solidFill>
                  <a:srgbClr val="F44336"/>
                </a:solidFill>
              </a:defRPr>
            </a:pPr>
            <a:r>
              <a:t>0.560</a:t>
            </a:r>
          </a:p>
          <a:p>
            <a:pPr algn="ctr">
              <a:defRPr sz="1200"/>
            </a:pPr>
            <a:r>
              <a:t>Gap entre gêneros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389120"/>
            <a:ext cx="2743200" cy="13716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/>
            </a:pPr>
            <a:r>
              <a:t>P-value</a:t>
            </a:r>
          </a:p>
          <a:p>
            <a:pPr algn="ctr">
              <a:defRPr sz="2400" b="1"/>
            </a:pPr>
            <a:r>
              <a:t>0.0000</a:t>
            </a:r>
          </a:p>
          <a:p>
            <a:pPr algn="ctr">
              <a:defRPr sz="1100"/>
            </a:pPr>
            <a:r>
              <a:t>Significância estatística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389120"/>
            <a:ext cx="2743200" cy="1371600"/>
          </a:xfrm>
          <a:prstGeom prst="roundRect">
            <a:avLst/>
          </a:prstGeom>
          <a:solidFill>
            <a:srgbClr val="FFEB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/>
            </a:pPr>
            <a:r>
              <a:t>Status</a:t>
            </a:r>
          </a:p>
          <a:p>
            <a:pPr algn="ctr">
              <a:defRPr sz="2400" b="1"/>
            </a:pPr>
            <a:r>
              <a:t>⚠️ VIÉS</a:t>
            </a:r>
          </a:p>
          <a:p>
            <a:pPr algn="ctr">
              <a:defRPr sz="1100"/>
            </a:pPr>
            <a:r>
              <a:t>Resultado da análise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💡 Próximos slides: 8 gráficos detalhados deste cenário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7 | Distribuição de Scores (Antes)</a:t>
            </a:r>
          </a:p>
        </p:txBody>
      </p:sp>
      <p:pic>
        <p:nvPicPr>
          <p:cNvPr id="3" name="Picture 2" descr="03_comparacao_medias_20251106_1437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3889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Mostra a distribuição antes de qualquer ajuste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7 | Distribuição de Scores (Depois)</a:t>
            </a:r>
          </a:p>
        </p:txBody>
      </p:sp>
      <p:pic>
        <p:nvPicPr>
          <p:cNvPr id="3" name="Picture 2" descr="04_boxplot_avaliacoes_20251106_1437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0757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após aplicação do nível de viés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7 | Comparação de Médias</a:t>
            </a:r>
          </a:p>
        </p:txBody>
      </p:sp>
      <p:pic>
        <p:nvPicPr>
          <p:cNvPr id="3" name="Picture 2" descr="05_eficacia_correcao_20251106_1437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6529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Comparação direta entre médias de homens e mulheres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7 | Boxplot por Tipo de Avaliação</a:t>
            </a:r>
          </a:p>
        </p:txBody>
      </p:sp>
      <p:pic>
        <p:nvPicPr>
          <p:cNvPr id="3" name="Picture 2" descr="06_histograma_distribuicao_20251106_1437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3106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de scores por diferentes tipos de avaliação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7 | Eficácia da Correção</a:t>
            </a:r>
          </a:p>
        </p:txBody>
      </p:sp>
      <p:pic>
        <p:nvPicPr>
          <p:cNvPr id="3" name="Picture 2" descr="07_scatter_desempenho_potencial_20251106_1437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71844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Análise da diferença de médias e significância estatística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Cenário 7 | Histograma de Distribuição</a:t>
            </a:r>
          </a:p>
        </p:txBody>
      </p:sp>
      <p:pic>
        <p:nvPicPr>
          <p:cNvPr id="3" name="Picture 2" descr="08_comparativo_cenarios_20251106_1437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6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t>📊 Distribuição geral com curva normal e percentis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